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371600"/>
            <a:ext cx="7315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003366"/>
                </a:solidFill>
              </a:rPr>
              <a:t>ProScreen ATS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914400" y="2468880"/>
            <a:ext cx="7315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555555"/>
                </a:solidFill>
              </a:rPr>
              <a:t>Accelerating the Hiring Pipeline</a:t>
            </a:r>
            <a:endParaRPr lang="en-US" sz="2400" dirty="0"/>
          </a:p>
          <a:p>
            <a:pPr algn="ctr" indent="0" marL="0">
              <a:buNone/>
            </a:pPr>
            <a:r>
              <a:rPr lang="en-US" sz="2400" dirty="0">
                <a:solidFill>
                  <a:srgbClr val="555555"/>
                </a:solidFill>
              </a:rPr>
              <a:t>Applicant Tracking &amp; Resume Screening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914400" y="4114800"/>
            <a:ext cx="7315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888888"/>
                </a:solidFill>
              </a:rPr>
              <a:t>College Miniproject Demonstration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3366"/>
                </a:solidFill>
              </a:rPr>
              <a:t>Introduction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822960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3200"/>
              </a:lnSpc>
              <a:buSzPct val="100000"/>
              <a:buChar char="•"/>
            </a:pPr>
            <a:r>
              <a:rPr lang="en-US" sz="2000" dirty="0">
                <a:solidFill>
                  <a:srgbClr val="333333"/>
                </a:solidFill>
              </a:rPr>
              <a:t>What is an ATS? An Applicant Tracking System helps companies organize, track, and evaluate candidates.</a:t>
            </a:r>
            <a:pPr indent="0" marL="0">
              <a:lnSpc>
                <a:spcPts val="3200"/>
              </a:lnSpc>
              <a:buNone/>
            </a:pPr>
            <a:r>
              <a:rPr lang="en-US" sz="2000" dirty="0">
                <a:solidFill>
                  <a:srgbClr val="333333"/>
                </a:solidFill>
              </a:rPr>
              <a:t>The Problem:</a:t>
            </a:r>
            <a:pPr lvl="1" indent="0" marL="0">
              <a:lnSpc>
                <a:spcPts val="3200"/>
              </a:lnSpc>
              <a:buNone/>
            </a:pPr>
            <a:r>
              <a:rPr lang="en-US" sz="2000" dirty="0">
                <a:solidFill>
                  <a:srgbClr val="333333"/>
                </a:solidFill>
              </a:rPr>
              <a:t>Traditional hiring is manual, slow, and prone to error or bias.</a:t>
            </a:r>
            <a:pPr lvl="1" indent="0" marL="0">
              <a:lnSpc>
                <a:spcPts val="3200"/>
              </a:lnSpc>
              <a:buNone/>
            </a:pPr>
            <a:r>
              <a:rPr lang="en-US" sz="2000" dirty="0">
                <a:solidFill>
                  <a:srgbClr val="333333"/>
                </a:solidFill>
              </a:rPr>
              <a:t>Recruiters spend excessive time screening irrelevant profiles.</a:t>
            </a:r>
            <a:pPr lvl="1" indent="0" marL="0">
              <a:lnSpc>
                <a:spcPts val="3200"/>
              </a:lnSpc>
              <a:buNone/>
            </a:pPr>
            <a:r>
              <a:rPr lang="en-US" sz="2000" dirty="0">
                <a:solidFill>
                  <a:srgbClr val="333333"/>
                </a:solidFill>
              </a:rPr>
              <a:t>Job seekers lack transparency regarding their application status.</a:t>
            </a:r>
            <a:pPr indent="0" marL="0">
              <a:lnSpc>
                <a:spcPts val="3200"/>
              </a:lnSpc>
              <a:buNone/>
            </a:pPr>
            <a:r>
              <a:rPr lang="en-US" sz="2000" dirty="0">
                <a:solidFill>
                  <a:srgbClr val="333333"/>
                </a:solidFill>
              </a:rPr>
              <a:t>The Goal: Build an automated platform connecting Job Seekers with Recruiters.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3366"/>
                </a:solidFill>
              </a:rPr>
              <a:t>Existing Systems vs. Our Solution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822960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3200"/>
              </a:lnSpc>
              <a:buSzPct val="100000"/>
              <a:buChar char="•"/>
            </a:pPr>
            <a:r>
              <a:rPr lang="en-US" sz="2000" dirty="0">
                <a:solidFill>
                  <a:srgbClr val="333333"/>
                </a:solidFill>
              </a:rPr>
              <a:t>Problems with Existing Systems:</a:t>
            </a:r>
            <a:pPr lvl="1" indent="0" marL="0">
              <a:lnSpc>
                <a:spcPts val="3200"/>
              </a:lnSpc>
              <a:buNone/>
            </a:pPr>
            <a:r>
              <a:rPr lang="en-US" sz="2000" dirty="0">
                <a:solidFill>
                  <a:srgbClr val="333333"/>
                </a:solidFill>
              </a:rPr>
              <a:t>Complex and expensive for small to medium businesses.</a:t>
            </a:r>
            <a:pPr lvl="1" indent="0" marL="0">
              <a:lnSpc>
                <a:spcPts val="3200"/>
              </a:lnSpc>
              <a:buNone/>
            </a:pPr>
            <a:r>
              <a:rPr lang="en-US" sz="2000" dirty="0">
                <a:solidFill>
                  <a:srgbClr val="333333"/>
                </a:solidFill>
              </a:rPr>
              <a:t>Disconnected workflows (emails vs. tracking spreadsheets).</a:t>
            </a:r>
            <a:pPr indent="0" marL="0">
              <a:lnSpc>
                <a:spcPts val="3200"/>
              </a:lnSpc>
              <a:buNone/>
            </a:pPr>
            <a:r>
              <a:rPr lang="en-US" sz="2000" dirty="0">
                <a:solidFill>
                  <a:srgbClr val="333333"/>
                </a:solidFill>
              </a:rPr>
              <a:t>Our Proposed Solution (ProScreen ATS):</a:t>
            </a:r>
            <a:pPr lvl="1" indent="0" marL="0">
              <a:lnSpc>
                <a:spcPts val="3200"/>
              </a:lnSpc>
              <a:buNone/>
            </a:pPr>
            <a:r>
              <a:rPr lang="en-US" sz="2000" dirty="0">
                <a:solidFill>
                  <a:srgbClr val="333333"/>
                </a:solidFill>
              </a:rPr>
              <a:t>A unified, role-based platform (Seeker, Recruiter, Admin).</a:t>
            </a:r>
            <a:pPr lvl="1" indent="0" marL="0">
              <a:lnSpc>
                <a:spcPts val="3200"/>
              </a:lnSpc>
              <a:buNone/>
            </a:pPr>
            <a:r>
              <a:rPr lang="en-US" sz="2000" dirty="0">
                <a:solidFill>
                  <a:srgbClr val="333333"/>
                </a:solidFill>
              </a:rPr>
              <a:t>Real-time job posting and application tracking.</a:t>
            </a:r>
            <a:pPr lvl="1" indent="0" marL="0">
              <a:lnSpc>
                <a:spcPts val="3200"/>
              </a:lnSpc>
              <a:buNone/>
            </a:pPr>
            <a:r>
              <a:rPr lang="en-US" sz="2000" dirty="0">
                <a:solidFill>
                  <a:srgbClr val="333333"/>
                </a:solidFill>
              </a:rPr>
              <a:t>Secure, token-based authentication.</a:t>
            </a:r>
            <a:endParaRPr lang="en-US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3366"/>
                </a:solidFill>
              </a:rPr>
              <a:t>Objectives &amp; Scope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822960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3200"/>
              </a:lnSpc>
              <a:buSzPct val="100000"/>
              <a:buChar char="•"/>
            </a:pPr>
            <a:r>
              <a:rPr lang="en-US" sz="2000" dirty="0">
                <a:solidFill>
                  <a:srgbClr val="333333"/>
                </a:solidFill>
              </a:rPr>
              <a:t>Job Seekers: Easy profile creation, browsing jobs, quick application.</a:t>
            </a:r>
            <a:pPr indent="0" marL="0">
              <a:lnSpc>
                <a:spcPts val="3200"/>
              </a:lnSpc>
              <a:buNone/>
            </a:pPr>
            <a:r>
              <a:rPr lang="en-US" sz="2000" dirty="0">
                <a:solidFill>
                  <a:srgbClr val="333333"/>
                </a:solidFill>
              </a:rPr>
              <a:t>Recruiters: Efficient job posting, viewing applicant profiles, updating statuses.</a:t>
            </a:r>
            <a:pPr indent="0" marL="0">
              <a:lnSpc>
                <a:spcPts val="3200"/>
              </a:lnSpc>
              <a:buNone/>
            </a:pPr>
            <a:r>
              <a:rPr lang="en-US" sz="2000" dirty="0">
                <a:solidFill>
                  <a:srgbClr val="333333"/>
                </a:solidFill>
              </a:rPr>
              <a:t>Administrators: Centralized oversight of users and metrics.</a:t>
            </a:r>
            <a:pPr indent="0" marL="0">
              <a:lnSpc>
                <a:spcPts val="3200"/>
              </a:lnSpc>
              <a:buNone/>
            </a:pPr>
            <a:r>
              <a:rPr lang="en-US" sz="2000" dirty="0">
                <a:solidFill>
                  <a:srgbClr val="333333"/>
                </a:solidFill>
              </a:rPr>
              <a:t>Scope Limit: Focused on the core workflow of posting, applying, and tracking (ideal MVP).</a:t>
            </a:r>
            <a:endParaRPr lang="en-US" sz="2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3366"/>
                </a:solidFill>
              </a:rPr>
              <a:t>Technology Stack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822960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3200"/>
              </a:lnSpc>
              <a:buSzPct val="100000"/>
              <a:buChar char="•"/>
            </a:pPr>
            <a:r>
              <a:rPr lang="en-US" sz="2000" dirty="0">
                <a:solidFill>
                  <a:srgbClr val="333333"/>
                </a:solidFill>
              </a:rPr>
              <a:t>Frontend / UI:</a:t>
            </a:r>
            <a:pPr lvl="1" indent="0" marL="0">
              <a:lnSpc>
                <a:spcPts val="3200"/>
              </a:lnSpc>
              <a:buNone/>
            </a:pPr>
            <a:r>
              <a:rPr lang="en-US" sz="2000" dirty="0">
                <a:solidFill>
                  <a:srgbClr val="333333"/>
                </a:solidFill>
              </a:rPr>
              <a:t>React.js (Vite environment), Vanilla CSS for styling, React Router.</a:t>
            </a:r>
            <a:pPr indent="0" marL="0">
              <a:lnSpc>
                <a:spcPts val="3200"/>
              </a:lnSpc>
              <a:buNone/>
            </a:pPr>
            <a:r>
              <a:rPr lang="en-US" sz="2000" dirty="0">
                <a:solidFill>
                  <a:srgbClr val="333333"/>
                </a:solidFill>
              </a:rPr>
              <a:t>Backend / API:</a:t>
            </a:r>
            <a:pPr lvl="1" indent="0" marL="0">
              <a:lnSpc>
                <a:spcPts val="3200"/>
              </a:lnSpc>
              <a:buNone/>
            </a:pPr>
            <a:r>
              <a:rPr lang="en-US" sz="2000" dirty="0">
                <a:solidFill>
                  <a:srgbClr val="333333"/>
                </a:solidFill>
              </a:rPr>
              <a:t>Java with Spring Boot (RESTful APIs), Spring Data JPA.</a:t>
            </a:r>
            <a:pPr indent="0" marL="0">
              <a:lnSpc>
                <a:spcPts val="3200"/>
              </a:lnSpc>
              <a:buNone/>
            </a:pPr>
            <a:r>
              <a:rPr lang="en-US" sz="2000" dirty="0">
                <a:solidFill>
                  <a:srgbClr val="333333"/>
                </a:solidFill>
              </a:rPr>
              <a:t>Database: MySQL / PostgreSQL (Relational).</a:t>
            </a:r>
            <a:pPr indent="0" marL="0">
              <a:lnSpc>
                <a:spcPts val="3200"/>
              </a:lnSpc>
              <a:buNone/>
            </a:pPr>
            <a:r>
              <a:rPr lang="en-US" sz="2000" dirty="0">
                <a:solidFill>
                  <a:srgbClr val="333333"/>
                </a:solidFill>
              </a:rPr>
              <a:t>Tools used: Axios (API integration), Git, Postman.</a:t>
            </a:r>
            <a:endParaRPr lang="en-US" sz="2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3366"/>
                </a:solidFill>
              </a:rPr>
              <a:t>System Architecture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822960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3200"/>
              </a:lnSpc>
              <a:buSzPct val="100000"/>
              <a:buChar char="•"/>
            </a:pPr>
            <a:r>
              <a:rPr lang="en-US" sz="2000" dirty="0">
                <a:solidFill>
                  <a:srgbClr val="333333"/>
                </a:solidFill>
              </a:rPr>
              <a:t>Client-Server Model: Clean separation of concerns.</a:t>
            </a:r>
            <a:pPr indent="0" marL="0">
              <a:lnSpc>
                <a:spcPts val="3200"/>
              </a:lnSpc>
              <a:buNone/>
            </a:pPr>
            <a:r>
              <a:rPr lang="en-US" sz="2000" dirty="0">
                <a:solidFill>
                  <a:srgbClr val="333333"/>
                </a:solidFill>
              </a:rPr>
              <a:t>Frontend Layer: Communicates asynchronously using Axios with REST endpoints.</a:t>
            </a:r>
            <a:pPr indent="0" marL="0">
              <a:lnSpc>
                <a:spcPts val="3200"/>
              </a:lnSpc>
              <a:buNone/>
            </a:pPr>
            <a:r>
              <a:rPr lang="en-US" sz="2000" dirty="0">
                <a:solidFill>
                  <a:srgbClr val="333333"/>
                </a:solidFill>
              </a:rPr>
              <a:t>Backend Layer: Spring Boot handles business logic and data persistence.</a:t>
            </a:r>
            <a:pPr indent="0" marL="0">
              <a:lnSpc>
                <a:spcPts val="3200"/>
              </a:lnSpc>
              <a:buNone/>
            </a:pPr>
            <a:r>
              <a:rPr lang="en-US" sz="2000" dirty="0">
                <a:solidFill>
                  <a:srgbClr val="333333"/>
                </a:solidFill>
              </a:rPr>
              <a:t>Database Layer: Manages Users, Resumes/Profiles, Jobs, and Applications.</a:t>
            </a:r>
            <a:endParaRPr lang="en-US" sz="2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3366"/>
                </a:solidFill>
              </a:rPr>
              <a:t>Module 1 - Authentication &amp; Security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822960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3200"/>
              </a:lnSpc>
              <a:buSzPct val="100000"/>
              <a:buChar char="•"/>
            </a:pPr>
            <a:r>
              <a:rPr lang="en-US" sz="2000" dirty="0">
                <a:solidFill>
                  <a:srgbClr val="333333"/>
                </a:solidFill>
              </a:rPr>
              <a:t>Secure Login &amp; Registration system.</a:t>
            </a:r>
            <a:pPr indent="0" marL="0">
              <a:lnSpc>
                <a:spcPts val="3200"/>
              </a:lnSpc>
              <a:buNone/>
            </a:pPr>
            <a:r>
              <a:rPr lang="en-US" sz="2000" dirty="0">
                <a:solidFill>
                  <a:srgbClr val="333333"/>
                </a:solidFill>
              </a:rPr>
              <a:t>Three specialized roles: JOBSEEKER, RECRUITER, ADMIN.</a:t>
            </a:r>
            <a:pPr indent="0" marL="0">
              <a:lnSpc>
                <a:spcPts val="3200"/>
              </a:lnSpc>
              <a:buNone/>
            </a:pPr>
            <a:r>
              <a:rPr lang="en-US" sz="2000" dirty="0">
                <a:solidFill>
                  <a:srgbClr val="333333"/>
                </a:solidFill>
              </a:rPr>
              <a:t>Backend validation ensures data integrity constraints (e.g. strong passwords).</a:t>
            </a:r>
            <a:pPr indent="0" marL="0">
              <a:lnSpc>
                <a:spcPts val="3200"/>
              </a:lnSpc>
              <a:buNone/>
            </a:pPr>
            <a:r>
              <a:rPr lang="en-US" sz="2000" dirty="0">
                <a:solidFill>
                  <a:srgbClr val="333333"/>
                </a:solidFill>
              </a:rPr>
              <a:t>Admin-specific access codes to prevent unauthorized accounts.</a:t>
            </a:r>
            <a:endParaRPr lang="en-US" sz="2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3366"/>
                </a:solidFill>
              </a:rPr>
              <a:t>Module 2 - Job Seeker Portal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822960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3200"/>
              </a:lnSpc>
              <a:buSzPct val="100000"/>
              <a:buChar char="•"/>
            </a:pPr>
            <a:r>
              <a:rPr lang="en-US" sz="2000" dirty="0">
                <a:solidFill>
                  <a:srgbClr val="333333"/>
                </a:solidFill>
              </a:rPr>
              <a:t>Dashboard: Overview of active job applications.</a:t>
            </a:r>
            <a:pPr indent="0" marL="0">
              <a:lnSpc>
                <a:spcPts val="3200"/>
              </a:lnSpc>
              <a:buNone/>
            </a:pPr>
            <a:r>
              <a:rPr lang="en-US" sz="2000" dirty="0">
                <a:solidFill>
                  <a:srgbClr val="333333"/>
                </a:solidFill>
              </a:rPr>
              <a:t>Job Board: Browsing open positions.</a:t>
            </a:r>
            <a:pPr indent="0" marL="0">
              <a:lnSpc>
                <a:spcPts val="3200"/>
              </a:lnSpc>
              <a:buNone/>
            </a:pPr>
            <a:r>
              <a:rPr lang="en-US" sz="2000" dirty="0">
                <a:solidFill>
                  <a:srgbClr val="333333"/>
                </a:solidFill>
              </a:rPr>
              <a:t>Profile Management: Keeping details updated for potential employers.</a:t>
            </a:r>
            <a:pPr indent="0" marL="0">
              <a:lnSpc>
                <a:spcPts val="3200"/>
              </a:lnSpc>
              <a:buNone/>
            </a:pPr>
            <a:r>
              <a:rPr lang="en-US" sz="2000" dirty="0">
                <a:solidFill>
                  <a:srgbClr val="333333"/>
                </a:solidFill>
              </a:rPr>
              <a:t>Click-to-Apply: Streamlined process for submitting candidacy.</a:t>
            </a:r>
            <a:endParaRPr lang="en-US" sz="2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3366"/>
                </a:solidFill>
              </a:rPr>
              <a:t>Module 3 - Recruiter Portal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822960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3200"/>
              </a:lnSpc>
              <a:buSzPct val="100000"/>
              <a:buChar char="•"/>
            </a:pPr>
            <a:r>
              <a:rPr lang="en-US" sz="2000" dirty="0">
                <a:solidFill>
                  <a:srgbClr val="333333"/>
                </a:solidFill>
              </a:rPr>
              <a:t>Company Profile: Building employer branding.</a:t>
            </a:r>
            <a:pPr indent="0" marL="0">
              <a:lnSpc>
                <a:spcPts val="3200"/>
              </a:lnSpc>
              <a:buNone/>
            </a:pPr>
            <a:r>
              <a:rPr lang="en-US" sz="2000" dirty="0">
                <a:solidFill>
                  <a:srgbClr val="333333"/>
                </a:solidFill>
              </a:rPr>
              <a:t>Job Management: Creating, updating, and managing job postings.</a:t>
            </a:r>
            <a:pPr indent="0" marL="0">
              <a:lnSpc>
                <a:spcPts val="3200"/>
              </a:lnSpc>
              <a:buNone/>
            </a:pPr>
            <a:r>
              <a:rPr lang="en-US" sz="2000" dirty="0">
                <a:solidFill>
                  <a:srgbClr val="333333"/>
                </a:solidFill>
              </a:rPr>
              <a:t>Candidate Pipeline: Viewing applications for specific jobs.</a:t>
            </a:r>
            <a:pPr indent="0" marL="0">
              <a:lnSpc>
                <a:spcPts val="3200"/>
              </a:lnSpc>
              <a:buNone/>
            </a:pPr>
            <a:r>
              <a:rPr lang="en-US" sz="2000" dirty="0">
                <a:solidFill>
                  <a:srgbClr val="333333"/>
                </a:solidFill>
              </a:rPr>
              <a:t>Status Updates: Changing application states (Screening, Hired, Rejected).</a:t>
            </a:r>
            <a:endParaRPr lang="en-US" sz="2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3366"/>
                </a:solidFill>
              </a:rPr>
              <a:t>Module 4 - Admin Dashboard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822960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3200"/>
              </a:lnSpc>
              <a:buSzPct val="100000"/>
              <a:buChar char="•"/>
            </a:pPr>
            <a:r>
              <a:rPr lang="en-US" sz="2000" dirty="0">
                <a:solidFill>
                  <a:srgbClr val="333333"/>
                </a:solidFill>
              </a:rPr>
              <a:t>System Oversight: Highest level of access.</a:t>
            </a:r>
            <a:pPr indent="0" marL="0">
              <a:lnSpc>
                <a:spcPts val="3200"/>
              </a:lnSpc>
              <a:buNone/>
            </a:pPr>
            <a:r>
              <a:rPr lang="en-US" sz="2000" dirty="0">
                <a:solidFill>
                  <a:srgbClr val="333333"/>
                </a:solidFill>
              </a:rPr>
              <a:t>User Management: Viewing registered users across all roles.</a:t>
            </a:r>
            <a:pPr indent="0" marL="0">
              <a:lnSpc>
                <a:spcPts val="3200"/>
              </a:lnSpc>
              <a:buNone/>
            </a:pPr>
            <a:r>
              <a:rPr lang="en-US" sz="2000" dirty="0">
                <a:solidFill>
                  <a:srgbClr val="333333"/>
                </a:solidFill>
              </a:rPr>
              <a:t>Analytics / Metrics: High-level overview of system usage.</a:t>
            </a:r>
            <a:pPr indent="0" marL="0">
              <a:lnSpc>
                <a:spcPts val="3200"/>
              </a:lnSpc>
              <a:buNone/>
            </a:pPr>
            <a:r>
              <a:rPr lang="en-US" sz="2000" dirty="0">
                <a:solidFill>
                  <a:srgbClr val="333333"/>
                </a:solidFill>
              </a:rPr>
              <a:t>Value: Ensures smooth operation and accountability on the platform.</a:t>
            </a:r>
            <a:endParaRPr lang="en-US" sz="2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3366"/>
                </a:solidFill>
              </a:rPr>
              <a:t>Real-World Applications &amp; Future Scope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822960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3200"/>
              </a:lnSpc>
              <a:buSzPct val="100000"/>
              <a:buChar char="•"/>
            </a:pPr>
            <a:r>
              <a:rPr lang="en-US" sz="2000" dirty="0">
                <a:solidFill>
                  <a:srgbClr val="333333"/>
                </a:solidFill>
              </a:rPr>
              <a:t>Current Use: Deployable in startups or campus placement cells.</a:t>
            </a:r>
            <a:pPr indent="0" marL="0">
              <a:lnSpc>
                <a:spcPts val="3200"/>
              </a:lnSpc>
              <a:buNone/>
            </a:pPr>
            <a:r>
              <a:rPr lang="en-US" sz="2000" dirty="0">
                <a:solidFill>
                  <a:srgbClr val="333333"/>
                </a:solidFill>
              </a:rPr>
              <a:t>Future Scope:</a:t>
            </a:r>
            <a:pPr lvl="1" indent="0" marL="0">
              <a:lnSpc>
                <a:spcPts val="3200"/>
              </a:lnSpc>
              <a:buNone/>
            </a:pPr>
            <a:r>
              <a:rPr lang="en-US" sz="2000" dirty="0">
                <a:solidFill>
                  <a:srgbClr val="333333"/>
                </a:solidFill>
              </a:rPr>
              <a:t>AI/ML Resume Parsing: Automatically extracting skills from uploaded PDFs.</a:t>
            </a:r>
            <a:pPr lvl="1" indent="0" marL="0">
              <a:lnSpc>
                <a:spcPts val="3200"/>
              </a:lnSpc>
              <a:buNone/>
            </a:pPr>
            <a:r>
              <a:rPr lang="en-US" sz="2000" dirty="0">
                <a:solidFill>
                  <a:srgbClr val="333333"/>
                </a:solidFill>
              </a:rPr>
              <a:t>Automated Ranking: Matching jobs to resumes algorithmically.</a:t>
            </a:r>
            <a:pPr lvl="1" indent="0" marL="0">
              <a:lnSpc>
                <a:spcPts val="3200"/>
              </a:lnSpc>
              <a:buNone/>
            </a:pPr>
            <a:r>
              <a:rPr lang="en-US" sz="2000" dirty="0">
                <a:solidFill>
                  <a:srgbClr val="333333"/>
                </a:solidFill>
              </a:rPr>
              <a:t>Email Notifications &amp; Calendar Scheduling.</a:t>
            </a:r>
            <a:endParaRPr lang="en-US" sz="2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3366"/>
                </a:solidFill>
              </a:rPr>
              <a:t>Conclusion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822960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3200"/>
              </a:lnSpc>
              <a:buSzPct val="100000"/>
              <a:buChar char="•"/>
            </a:pPr>
            <a:r>
              <a:rPr lang="en-US" sz="2000" dirty="0">
                <a:solidFill>
                  <a:srgbClr val="333333"/>
                </a:solidFill>
              </a:rPr>
              <a:t>ProScreen ATS demonstrates a robust full-stack engineering approach.</a:t>
            </a:r>
            <a:pPr indent="0" marL="0">
              <a:lnSpc>
                <a:spcPts val="3200"/>
              </a:lnSpc>
              <a:buNone/>
            </a:pPr>
            <a:r>
              <a:rPr lang="en-US" sz="2000" dirty="0">
                <a:solidFill>
                  <a:srgbClr val="333333"/>
                </a:solidFill>
              </a:rPr>
              <a:t>Provides a responsive, user-friendly experience.</a:t>
            </a:r>
            <a:pPr indent="0" marL="0">
              <a:lnSpc>
                <a:spcPts val="3200"/>
              </a:lnSpc>
              <a:buNone/>
            </a:pPr>
            <a:r>
              <a:rPr lang="en-US" sz="2000" dirty="0">
                <a:solidFill>
                  <a:srgbClr val="333333"/>
                </a:solidFill>
              </a:rPr>
              <a:t>Modular codebase allows for easy scaling and future AI additions.</a:t>
            </a:r>
            <a:pPr indent="0" marL="0">
              <a:lnSpc>
                <a:spcPts val="3200"/>
              </a:lnSpc>
              <a:buNone/>
            </a:pPr>
            <a:r>
              <a:rPr lang="en-US" sz="2000" dirty="0">
                <a:solidFill>
                  <a:srgbClr val="333333"/>
                </a:solidFill>
              </a:rPr>
              <a:t>Thank You! Any Questions?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2026-04-16T18:12:23Z</dcterms:created>
  <dcterms:modified xsi:type="dcterms:W3CDTF">2026-04-16T18:12:23Z</dcterms:modified>
</cp:coreProperties>
</file>